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2D078-676E-450E-AC47-9F46AF6EB62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F9700-ABC0-41A3-9440-C6E86D10F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93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F9700-ABC0-41A3-9440-C6E86D10FAE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70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D7957-6B8E-8571-8CB5-58C6F3DAD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62E83-9499-65F0-2CB8-D19C7F9E5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8E159-BF74-A179-7453-3CA47DB7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537E-BE72-5DE0-5C0A-99D3BB47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A404-EA4E-1A98-8C5E-C7417D9D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35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44C3-92B0-7D25-2935-62784619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0CD33-0BE0-644F-3F9A-9FFED444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85737-8831-FFE7-5A57-D9B094CE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043B9-7654-DBD9-85EA-A631650F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3431A-5421-3A3D-1329-F2107AD1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58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7DAC-2403-FE09-A7F4-D07BBFCCB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A733D-FFA8-0594-D9FB-BA6A79FA4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55A81-7248-050B-9ECA-A7B953A0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FA0DA-8C86-B20B-F3A3-ACBDED798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B5B30-9365-5A56-393F-4A4846259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77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6FBB-5215-8E7E-8C50-60BC7C13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8E036-1B0E-EA0E-C970-BB6C4CFB2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E32C5-48A4-9C68-1BAE-4BD69550C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117EE-501B-0C51-0D96-A28AF2DE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E33B8-6D04-AA9A-EFC7-3E0C76EA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5B078-C65B-3939-00F1-934C1AE7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591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72C3-AFFA-BE86-09A4-9A91F0FEE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A285D-3776-31D1-73FC-57D2D626E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416F3-04A1-70BD-5E23-5EB1269D4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251CB-EBEE-5704-BFB2-FFAE4799A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0A975F-4084-716F-8122-EEF753379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4EF0C-6E63-0288-E4D0-EC71255C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B526F-EE4F-F073-BCA7-B659509E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10AED-54D9-0134-0115-58DDF9A9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58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81F-31DA-A983-EA03-05F78526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88B020-54DC-1C39-1939-CE38DADC5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5C154-33A1-EDAD-881A-7D9796A8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4DA57-EC1F-E673-1034-F9148B66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364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0B5D92-AA80-363B-481C-9BE5E5BF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81B0E-1085-AC07-5B49-01A46A75E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01F13-E79B-79AE-43AE-A9E32F40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65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5752-1732-E7A6-EE6F-95061955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5CED5-B797-D5D5-00D4-6B973B2D3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67678-B742-D155-0B0A-73F24B02F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7AEBB-D61A-CCA0-23D7-841838EB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A4F8B-455A-C623-B87F-859CE66D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8ECD4-961A-C6F3-1742-43633A3F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137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3877-A107-86D2-0AAC-8E6A61EC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D1317-4935-DD9C-DA09-2FCE7B314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5DC43-9379-3E99-A649-4E95C243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44BA1-A080-9DC0-5BA2-7B7504B6A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3CC8D-591E-1182-6417-2493D2D0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213B-3A8A-600A-49F7-4F700689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0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953C-74CC-0BC4-2D78-1598910E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D46C8-42D8-B16F-D134-391921E19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F84D6-690E-4B59-103A-CFF8427D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A77AA-3CA6-0F41-44A4-4B12916B1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95BAE-698D-F8B9-47FF-C25E3E76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08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A1319-2DF7-9D22-83A0-EE1D19033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5F1B2-7686-F12E-D3CD-C6301F3E4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40DF9-E657-C2A6-DC28-FE9BAE4E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F7DBC-9DED-CDB1-51D4-082E1764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8F088-47DF-1522-EBDB-0681F63E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59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07B6B8-082B-42E5-FBCF-E843E9F87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11B20-E01B-C503-1681-CBB022DB5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03D64-46BA-9827-A233-CBCC3B83B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409B5-7607-49EE-AC74-BD389F85AF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31351-734B-DFAB-3971-144F50BDF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D3C97-C81D-1B8B-9644-2388E82BE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1834C-D0FD-4D6F-8E52-B93F7A7F5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29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EBFEB-F646-4F44-4A3B-58492EF78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1120" y="1122362"/>
            <a:ext cx="12263120" cy="4303078"/>
          </a:xfrm>
        </p:spPr>
        <p:txBody>
          <a:bodyPr>
            <a:normAutofit/>
          </a:bodyPr>
          <a:lstStyle/>
          <a:p>
            <a:r>
              <a:rPr lang="en-IN" sz="7300" dirty="0">
                <a:latin typeface="Bahnschrift Light SemiCondensed" panose="020B0502040204020203" pitchFamily="34" charset="0"/>
              </a:rPr>
              <a:t>Handwritten Digit Recognition using CNN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1B7CC-D330-F5A2-675A-A844ECE8F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6240" y="5898198"/>
            <a:ext cx="9144000" cy="1655762"/>
          </a:xfrm>
        </p:spPr>
        <p:txBody>
          <a:bodyPr/>
          <a:lstStyle/>
          <a:p>
            <a:pPr algn="r"/>
            <a:r>
              <a:rPr lang="en-US" sz="2000" b="1" dirty="0"/>
              <a:t>Domain:</a:t>
            </a:r>
            <a:r>
              <a:rPr lang="en-US" sz="2000" dirty="0"/>
              <a:t> Artificial Intelligence</a:t>
            </a:r>
          </a:p>
          <a:p>
            <a:pPr algn="r"/>
            <a:r>
              <a:rPr lang="en-IN" sz="2000" b="1" dirty="0"/>
              <a:t>Presented by: </a:t>
            </a:r>
            <a:r>
              <a:rPr lang="en-US" sz="2000" dirty="0"/>
              <a:t>Aditya Raj Pandey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59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9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6E113-4594-04DB-4C41-45C9DDCFA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25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Bahnschrift Light" panose="020B0502040204020203" pitchFamily="34" charset="0"/>
              </a:rPr>
              <a:t>Abstract</a:t>
            </a:r>
            <a:endParaRPr lang="en-IN" dirty="0">
              <a:latin typeface="Bahnschrift Ligh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A58D5-A5DF-D23E-46D2-9DCCE1CB8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6480"/>
            <a:ext cx="12192000" cy="581152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600" dirty="0">
                <a:latin typeface="Bahnschrift Light" panose="020B0502040204020203" pitchFamily="34" charset="0"/>
              </a:rPr>
              <a:t>This project implements a </a:t>
            </a:r>
            <a:r>
              <a:rPr lang="en-US" sz="2600" b="1" dirty="0">
                <a:latin typeface="Bahnschrift Light" panose="020B0502040204020203" pitchFamily="34" charset="0"/>
              </a:rPr>
              <a:t>Convolutional Neural Network (CNN)</a:t>
            </a:r>
            <a:r>
              <a:rPr lang="en-US" sz="2600" dirty="0">
                <a:latin typeface="Bahnschrift Light" panose="020B0502040204020203" pitchFamily="34" charset="0"/>
              </a:rPr>
              <a:t> to classify handwritten digits from the </a:t>
            </a:r>
            <a:r>
              <a:rPr lang="en-US" sz="2600" b="1" dirty="0">
                <a:latin typeface="Bahnschrift Light" panose="020B0502040204020203" pitchFamily="34" charset="0"/>
              </a:rPr>
              <a:t>MNIST dataset</a:t>
            </a:r>
            <a:r>
              <a:rPr lang="en-US" sz="2600" dirty="0">
                <a:latin typeface="Bahnschrift Light" panose="020B0502040204020203" pitchFamily="34" charset="0"/>
              </a:rPr>
              <a:t>, which is widely considered the "Hello World" of computer vision. The primary goal is to develop a deep learning model capable of identifying digits (0-9) from 28x28 grayscale images with high accuracy.</a:t>
            </a:r>
          </a:p>
          <a:p>
            <a:pPr marL="0" indent="0" algn="ctr">
              <a:buNone/>
            </a:pPr>
            <a:endParaRPr lang="en-US" sz="2600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US" u="sng" dirty="0">
                <a:latin typeface="Bahnschrift Light" panose="020B0502040204020203" pitchFamily="34" charset="0"/>
              </a:rPr>
              <a:t>The project involves several key stages :</a:t>
            </a:r>
          </a:p>
          <a:p>
            <a:r>
              <a:rPr lang="en-US" b="1" dirty="0">
                <a:latin typeface="Bahnschrift Light" panose="020B0502040204020203" pitchFamily="34" charset="0"/>
              </a:rPr>
              <a:t>Data Preprocessing</a:t>
            </a:r>
            <a:r>
              <a:rPr lang="en-US" dirty="0">
                <a:latin typeface="Bahnschrift Light" panose="020B0502040204020203" pitchFamily="34" charset="0"/>
              </a:rPr>
              <a:t>: Loading the 70,000 images, normalizing pixel values to a range of [0, 1] for faster convergence, and reshaping the data to fit the CNN input requirements.</a:t>
            </a:r>
          </a:p>
          <a:p>
            <a:r>
              <a:rPr lang="en-US" b="1" dirty="0">
                <a:latin typeface="Bahnschrift Light" panose="020B0502040204020203" pitchFamily="34" charset="0"/>
              </a:rPr>
              <a:t>Model Architecture</a:t>
            </a:r>
            <a:r>
              <a:rPr lang="en-US" dirty="0">
                <a:latin typeface="Bahnschrift Light" panose="020B0502040204020203" pitchFamily="34" charset="0"/>
              </a:rPr>
              <a:t>: Building a sequential CNN consisting of convolutional layers for feature extraction, pooling layers for spatial </a:t>
            </a:r>
            <a:r>
              <a:rPr lang="en-US" dirty="0" err="1">
                <a:latin typeface="Bahnschrift Light" panose="020B0502040204020203" pitchFamily="34" charset="0"/>
              </a:rPr>
              <a:t>downsampling</a:t>
            </a:r>
            <a:r>
              <a:rPr lang="en-US" dirty="0">
                <a:latin typeface="Bahnschrift Light" panose="020B0502040204020203" pitchFamily="34" charset="0"/>
              </a:rPr>
              <a:t>, and dense (fully connected) layers for final classification.</a:t>
            </a:r>
          </a:p>
          <a:p>
            <a:r>
              <a:rPr lang="en-US" b="1" dirty="0">
                <a:latin typeface="Bahnschrift Light" panose="020B0502040204020203" pitchFamily="34" charset="0"/>
              </a:rPr>
              <a:t>Training &amp; Optimization</a:t>
            </a:r>
            <a:r>
              <a:rPr lang="en-US" dirty="0">
                <a:latin typeface="Bahnschrift Light" panose="020B0502040204020203" pitchFamily="34" charset="0"/>
              </a:rPr>
              <a:t>: Utilizing the </a:t>
            </a:r>
            <a:r>
              <a:rPr lang="en-US" b="1" dirty="0">
                <a:latin typeface="Bahnschrift Light" panose="020B0502040204020203" pitchFamily="34" charset="0"/>
              </a:rPr>
              <a:t>Adam optimizer</a:t>
            </a:r>
            <a:r>
              <a:rPr lang="en-US" dirty="0">
                <a:latin typeface="Bahnschrift Light" panose="020B0502040204020203" pitchFamily="34" charset="0"/>
              </a:rPr>
              <a:t> and </a:t>
            </a:r>
            <a:r>
              <a:rPr lang="en-US" b="1" dirty="0">
                <a:latin typeface="Bahnschrift Light" panose="020B0502040204020203" pitchFamily="34" charset="0"/>
              </a:rPr>
              <a:t>Categorical Cross-entropy</a:t>
            </a:r>
            <a:r>
              <a:rPr lang="en-US" dirty="0">
                <a:latin typeface="Bahnschrift Light" panose="020B0502040204020203" pitchFamily="34" charset="0"/>
              </a:rPr>
              <a:t> loss function to train the model over multiple epochs.</a:t>
            </a:r>
          </a:p>
          <a:p>
            <a:r>
              <a:rPr lang="en-US" b="1" dirty="0">
                <a:latin typeface="Bahnschrift Light" panose="020B0502040204020203" pitchFamily="34" charset="0"/>
              </a:rPr>
              <a:t>Evaluation</a:t>
            </a:r>
            <a:r>
              <a:rPr lang="en-US" dirty="0">
                <a:latin typeface="Bahnschrift Light" panose="020B0502040204020203" pitchFamily="34" charset="0"/>
              </a:rPr>
              <a:t>: Testing the model on unseen data to measure its performance, typically achieving an accuracy of over 98-99%.</a:t>
            </a:r>
          </a:p>
          <a:p>
            <a:endParaRPr lang="en-IN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00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A6177-0FC7-C760-27A0-0D01069D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833121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Bahnschrift Light" panose="020B0502040204020203" pitchFamily="34" charset="0"/>
              </a:rPr>
              <a:t>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A9AF2E-65AD-4561-15BA-CFDD2730FF4A}"/>
              </a:ext>
            </a:extLst>
          </p:cNvPr>
          <p:cNvSpPr txBox="1">
            <a:spLocks/>
          </p:cNvSpPr>
          <p:nvPr/>
        </p:nvSpPr>
        <p:spPr>
          <a:xfrm>
            <a:off x="0" y="833121"/>
            <a:ext cx="12192000" cy="1767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Bahnschrift Light" panose="020B0502040204020203" pitchFamily="34" charset="0"/>
              </a:rPr>
              <a:t>The ability of machines to interpret human handwriting is a cornerstone of modern automation and artificial intelligence. While humans can effortlessly recognize digits regardless of style or orientation, translating this cognitive ability into a computational format is a complex challenge.</a:t>
            </a:r>
            <a:endParaRPr lang="en-IN" dirty="0">
              <a:latin typeface="Bahnschrift Light" panose="020B0502040204020203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1FF145D-E52A-1266-639C-3EBAED6A5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14672"/>
            <a:ext cx="12192000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Why This Matters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Digit recognition is not merely an academic exercise; it is the fundamental technology powering essential services in our daily lives. Its applications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Banking: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Automating the processing of hand-written checks.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Logistics: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Sorting postal mail by scanning zip codes.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Digitalization: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Converting physical documents into searchable digital formats through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Optical Character Recognition (OCR)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13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981B-EA19-3DEB-449B-D9FACB9F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2475"/>
          </a:xfrm>
        </p:spPr>
        <p:txBody>
          <a:bodyPr/>
          <a:lstStyle/>
          <a:p>
            <a:pPr algn="ctr"/>
            <a:r>
              <a:rPr lang="en-IN" dirty="0"/>
              <a:t>Technical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240B7-4AFB-7F4E-1718-23483E9BE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52474"/>
            <a:ext cx="12192000" cy="61055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The </a:t>
            </a:r>
            <a:r>
              <a:rPr lang="en-US" sz="2400" b="1" dirty="0"/>
              <a:t>MNIST Digits Classification</a:t>
            </a:r>
            <a:r>
              <a:rPr lang="en-US" sz="2400" dirty="0"/>
              <a:t> project is built using a modern deep learning stack centered around the Python ecosystem. This combination ensures high performance, ease of model experimentation, and robust data visualization.</a:t>
            </a:r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IN" sz="1800" b="1" u="sng" dirty="0">
                <a:solidFill>
                  <a:srgbClr val="FF0000"/>
                </a:solidFill>
              </a:rPr>
              <a:t>Core Technologies</a:t>
            </a:r>
          </a:p>
          <a:p>
            <a:r>
              <a:rPr lang="en-IN" sz="1700" b="1" dirty="0"/>
              <a:t>Python:</a:t>
            </a:r>
            <a:r>
              <a:rPr lang="en-IN" sz="1700" dirty="0"/>
              <a:t> The primary programming language used for its extensive support for machine learning libraries and readable syntax.</a:t>
            </a:r>
          </a:p>
          <a:p>
            <a:r>
              <a:rPr lang="en-IN" sz="1700" b="1" dirty="0"/>
              <a:t>TensorFlow / </a:t>
            </a:r>
            <a:r>
              <a:rPr lang="en-IN" sz="1700" b="1" dirty="0" err="1"/>
              <a:t>Keras</a:t>
            </a:r>
            <a:r>
              <a:rPr lang="en-IN" sz="1700" b="1" dirty="0"/>
              <a:t>:</a:t>
            </a:r>
            <a:r>
              <a:rPr lang="en-IN" sz="1700" dirty="0"/>
              <a:t> The heavy-lifting framework used to design, train, and evaluate the </a:t>
            </a:r>
            <a:r>
              <a:rPr lang="en-IN" sz="1700" b="1" dirty="0"/>
              <a:t>Convolutional Neural Network (CNN)</a:t>
            </a:r>
            <a:r>
              <a:rPr lang="en-IN" sz="1700" dirty="0"/>
              <a:t> architecture.</a:t>
            </a:r>
          </a:p>
          <a:p>
            <a:r>
              <a:rPr lang="en-IN" sz="1700" b="1" dirty="0"/>
              <a:t>NumPy:</a:t>
            </a:r>
            <a:r>
              <a:rPr lang="en-IN" sz="1700" dirty="0"/>
              <a:t> Utilized for efficient numerical computations, matrix manipulations, and handling the underlying image arrays.</a:t>
            </a:r>
          </a:p>
          <a:p>
            <a:pPr marL="0" indent="0" algn="ctr">
              <a:buNone/>
            </a:pPr>
            <a:r>
              <a:rPr lang="en-US" sz="1800" b="1" u="sng" dirty="0">
                <a:solidFill>
                  <a:srgbClr val="FF0000"/>
                </a:solidFill>
              </a:rPr>
              <a:t>Data Processing &amp; Visualization</a:t>
            </a:r>
          </a:p>
          <a:p>
            <a:r>
              <a:rPr lang="en-US" sz="1700" b="1" dirty="0"/>
              <a:t>Matplotlib / Seaborn:</a:t>
            </a:r>
            <a:r>
              <a:rPr lang="en-US" sz="1700" dirty="0"/>
              <a:t> Used to visualize the MNIST dataset, plot training history (accuracy/loss curves), and display model predictions for qualitative analysis.</a:t>
            </a:r>
          </a:p>
          <a:p>
            <a:r>
              <a:rPr lang="en-US" sz="1700" b="1" dirty="0"/>
              <a:t>Scikit-Learn:</a:t>
            </a:r>
            <a:r>
              <a:rPr lang="en-US" sz="1700" dirty="0"/>
              <a:t> Employed for preprocessing tasks, such as splitting data and generating performance metrics like the </a:t>
            </a:r>
            <a:r>
              <a:rPr lang="en-US" sz="1700" b="1" dirty="0"/>
              <a:t>Confusion Matrix</a:t>
            </a:r>
            <a:r>
              <a:rPr lang="en-US" sz="1700" dirty="0"/>
              <a:t> and </a:t>
            </a:r>
            <a:r>
              <a:rPr lang="en-US" sz="1700" b="1" dirty="0"/>
              <a:t>Classification Report</a:t>
            </a:r>
            <a:r>
              <a:rPr lang="en-US" sz="1700" dirty="0"/>
              <a:t>.</a:t>
            </a:r>
          </a:p>
          <a:p>
            <a:r>
              <a:rPr lang="en-US" sz="1700" b="1" dirty="0"/>
              <a:t>Pandas:</a:t>
            </a:r>
            <a:r>
              <a:rPr lang="en-US" sz="1700" dirty="0"/>
              <a:t> Used for structured data handling and managing any tabular metadata associated with the image samples.</a:t>
            </a:r>
          </a:p>
          <a:p>
            <a:pPr marL="0" indent="0" algn="ctr">
              <a:buNone/>
            </a:pPr>
            <a:r>
              <a:rPr lang="en-US" sz="1800" b="1" u="sng" dirty="0">
                <a:solidFill>
                  <a:srgbClr val="FF0000"/>
                </a:solidFill>
              </a:rPr>
              <a:t>Development Environment</a:t>
            </a:r>
          </a:p>
          <a:p>
            <a:r>
              <a:rPr lang="en-US" sz="1700" b="1" dirty="0" err="1"/>
              <a:t>Jupyter</a:t>
            </a:r>
            <a:r>
              <a:rPr lang="en-US" sz="1700" b="1" dirty="0"/>
              <a:t> Notebook:</a:t>
            </a:r>
            <a:r>
              <a:rPr lang="en-US" sz="1700" dirty="0"/>
              <a:t> The interactive environment used to document the step-by-step workflow, from exploratory data analysis to final model testing.</a:t>
            </a:r>
          </a:p>
          <a:p>
            <a:pPr marL="0" indent="0" algn="ctr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3108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67D2C-1EAA-4EBD-C9DB-E79D26F0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3439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Bahnschrift Light" panose="020B0502040204020203" pitchFamily="34" charset="0"/>
              </a:rPr>
              <a:t>Dataset Overview (MNIST)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178A-0E5A-1DF1-44B6-F104BF8DE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3441"/>
            <a:ext cx="12192000" cy="60045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latin typeface="Bahnschrift Light" panose="020B0502040204020203" pitchFamily="34" charset="0"/>
              </a:rPr>
              <a:t>The </a:t>
            </a:r>
            <a:r>
              <a:rPr lang="en-US" sz="1800" b="1" dirty="0">
                <a:latin typeface="Bahnschrift Light" panose="020B0502040204020203" pitchFamily="34" charset="0"/>
              </a:rPr>
              <a:t>MNIST</a:t>
            </a:r>
            <a:r>
              <a:rPr lang="en-US" sz="1800" dirty="0">
                <a:latin typeface="Bahnschrift Light" panose="020B0502040204020203" pitchFamily="34" charset="0"/>
              </a:rPr>
              <a:t> (Modified National Institute of Standards and Technology) dataset is the gold standard for evaluating image classification models. It is a subset of a larger collection originally maintained by NIST.</a:t>
            </a:r>
          </a:p>
          <a:p>
            <a:pPr marL="0" indent="0" algn="ctr">
              <a:buNone/>
            </a:pPr>
            <a:r>
              <a:rPr lang="en-US" sz="1800" b="1" u="sng" dirty="0">
                <a:solidFill>
                  <a:srgbClr val="FF0000"/>
                </a:solidFill>
                <a:latin typeface="Bahnschrift Light" panose="020B0502040204020203" pitchFamily="34" charset="0"/>
              </a:rPr>
              <a:t>Key Statistics</a:t>
            </a:r>
          </a:p>
          <a:p>
            <a:r>
              <a:rPr lang="en-US" sz="1800" b="1" dirty="0">
                <a:latin typeface="Bahnschrift Light" panose="020B0502040204020203" pitchFamily="34" charset="0"/>
              </a:rPr>
              <a:t>Total Images:</a:t>
            </a:r>
            <a:r>
              <a:rPr lang="en-US" sz="1800" dirty="0">
                <a:latin typeface="Bahnschrift Light" panose="020B0502040204020203" pitchFamily="34" charset="0"/>
              </a:rPr>
              <a:t> 70,000</a:t>
            </a:r>
          </a:p>
          <a:p>
            <a:r>
              <a:rPr lang="en-US" sz="1800" b="1" dirty="0">
                <a:latin typeface="Bahnschrift Light" panose="020B0502040204020203" pitchFamily="34" charset="0"/>
              </a:rPr>
              <a:t>Classes:</a:t>
            </a:r>
            <a:r>
              <a:rPr lang="en-US" sz="1800" dirty="0">
                <a:latin typeface="Bahnschrift Light" panose="020B0502040204020203" pitchFamily="34" charset="0"/>
              </a:rPr>
              <a:t> 10 (Digits 0 through 9)</a:t>
            </a:r>
          </a:p>
          <a:p>
            <a:r>
              <a:rPr lang="en-US" sz="1800" b="1" dirty="0">
                <a:latin typeface="Bahnschrift Light" panose="020B0502040204020203" pitchFamily="34" charset="0"/>
              </a:rPr>
              <a:t>Image Format:</a:t>
            </a:r>
            <a:r>
              <a:rPr lang="en-US" sz="1800" dirty="0">
                <a:latin typeface="Bahnschrift Light" panose="020B0502040204020203" pitchFamily="34" charset="0"/>
              </a:rPr>
              <a:t> 28x28 pixels, Grayscale</a:t>
            </a:r>
          </a:p>
          <a:p>
            <a:r>
              <a:rPr lang="en-US" sz="1800" b="1" dirty="0">
                <a:latin typeface="Bahnschrift Light" panose="020B0502040204020203" pitchFamily="34" charset="0"/>
              </a:rPr>
              <a:t>Color Depth:</a:t>
            </a:r>
            <a:r>
              <a:rPr lang="en-US" sz="1800" dirty="0">
                <a:latin typeface="Bahnschrift Light" panose="020B0502040204020203" pitchFamily="34" charset="0"/>
              </a:rPr>
              <a:t> 8-bit (0 = Black, 255 = White)</a:t>
            </a:r>
          </a:p>
          <a:p>
            <a:r>
              <a:rPr lang="en-US" sz="1800" b="1" dirty="0">
                <a:latin typeface="Bahnschrift Light" panose="020B0502040204020203" pitchFamily="34" charset="0"/>
              </a:rPr>
              <a:t>Standard Split:</a:t>
            </a:r>
            <a:endParaRPr lang="en-US" sz="1800" dirty="0">
              <a:latin typeface="Bahnschrift Light" panose="020B0502040204020203" pitchFamily="34" charset="0"/>
            </a:endParaRPr>
          </a:p>
          <a:p>
            <a:pPr lvl="1"/>
            <a:r>
              <a:rPr lang="en-US" sz="1800" b="1" dirty="0">
                <a:latin typeface="Bahnschrift Light" panose="020B0502040204020203" pitchFamily="34" charset="0"/>
              </a:rPr>
              <a:t>Training Set:</a:t>
            </a:r>
            <a:r>
              <a:rPr lang="en-US" sz="1800" dirty="0">
                <a:latin typeface="Bahnschrift Light" panose="020B0502040204020203" pitchFamily="34" charset="0"/>
              </a:rPr>
              <a:t> 60,000 images (used to teach the model).</a:t>
            </a:r>
          </a:p>
          <a:p>
            <a:pPr lvl="1"/>
            <a:r>
              <a:rPr lang="en-US" sz="1800" b="1" dirty="0">
                <a:latin typeface="Bahnschrift Light" panose="020B0502040204020203" pitchFamily="34" charset="0"/>
              </a:rPr>
              <a:t>Testing Set:</a:t>
            </a:r>
            <a:r>
              <a:rPr lang="en-US" sz="1800" dirty="0">
                <a:latin typeface="Bahnschrift Light" panose="020B0502040204020203" pitchFamily="34" charset="0"/>
              </a:rPr>
              <a:t> 10,000 images (used to evaluate accuracy on "unseen" data).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FF0000"/>
                </a:solidFill>
                <a:latin typeface="Bahnschrift Light" panose="020B0502040204020203" pitchFamily="34" charset="0"/>
              </a:rPr>
              <a:t> </a:t>
            </a:r>
            <a:r>
              <a:rPr lang="en-IN" sz="1800" b="1" u="sng" dirty="0">
                <a:solidFill>
                  <a:srgbClr val="FF0000"/>
                </a:solidFill>
                <a:latin typeface="Bahnschrift Light" panose="020B0502040204020203" pitchFamily="34" charset="0"/>
              </a:rPr>
              <a:t>Data Structure</a:t>
            </a:r>
          </a:p>
          <a:p>
            <a:pPr marL="0" indent="0" algn="ctr">
              <a:buNone/>
            </a:pPr>
            <a:endParaRPr lang="en-IN" sz="1800" b="1" u="sng" dirty="0">
              <a:solidFill>
                <a:srgbClr val="FF0000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6D09AC1-01FC-B3B2-39F4-6CCB8C383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" y="4585372"/>
            <a:ext cx="118668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Each image is essentially a 2D array of 28 X 28 numerical values. In many machine learning workflows (like the one in your repository), these images 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8D948AC-D96C-1BF7-B32E-B042EDFC1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" y="5464379"/>
            <a:ext cx="9496510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Flattened: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Converted into a 1D vector of 784 features (28 X 28 = 784).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Labeled: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Each image is paired with an integer label (0-9) representing the actual digit.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Normalized: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Scaled from [0, 255] to [0, 1] to help the neural network learn more efficiently.</a:t>
            </a:r>
          </a:p>
        </p:txBody>
      </p:sp>
    </p:spTree>
    <p:extLst>
      <p:ext uri="{BB962C8B-B14F-4D97-AF65-F5344CB8AC3E}">
        <p14:creationId xmlns:p14="http://schemas.microsoft.com/office/powerpoint/2010/main" val="1848801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D046-2AA5-0B96-26DA-CD965824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1"/>
            <a:ext cx="12324080" cy="944879"/>
          </a:xfrm>
        </p:spPr>
        <p:txBody>
          <a:bodyPr/>
          <a:lstStyle/>
          <a:p>
            <a:pPr algn="ctr"/>
            <a:r>
              <a:rPr lang="en-US" b="1" dirty="0">
                <a:latin typeface="Bahnschrift Light" panose="020B0502040204020203" pitchFamily="34" charset="0"/>
              </a:rPr>
              <a:t>Proposed Methodology (The CNN Architecture)</a:t>
            </a:r>
            <a:endParaRPr lang="en-IN" b="1" dirty="0">
              <a:latin typeface="Bahnschrift Ligh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7C20A-864C-245A-F2E8-8F0455559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4880"/>
            <a:ext cx="12192000" cy="591312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latin typeface="Bahnschrift Light" panose="020B0502040204020203" pitchFamily="34" charset="0"/>
              </a:rPr>
              <a:t>The core of this project is a </a:t>
            </a:r>
            <a:r>
              <a:rPr lang="en-US" sz="2400" b="1" dirty="0">
                <a:latin typeface="Bahnschrift Light" panose="020B0502040204020203" pitchFamily="34" charset="0"/>
              </a:rPr>
              <a:t>Convolutional Neural Network (CNN)</a:t>
            </a:r>
            <a:r>
              <a:rPr lang="en-US" sz="2400" dirty="0">
                <a:latin typeface="Bahnschrift Light" panose="020B0502040204020203" pitchFamily="34" charset="0"/>
              </a:rPr>
              <a:t>, a deep learning architecture specifically engineered to handle the spatial dependencies in image data. Unlike a standard Dense network that sees an image as a flat list of pixels, a CNN treats it as a 2D grid, allowing it to "see" shapes and patterns.</a:t>
            </a:r>
          </a:p>
          <a:p>
            <a:pPr marL="0" indent="0" algn="ctr">
              <a:buNone/>
            </a:pPr>
            <a:endParaRPr lang="en-US" sz="2400" dirty="0">
              <a:latin typeface="Bahnschrift Light" panose="020B0502040204020203" pitchFamily="34" charset="0"/>
            </a:endParaRPr>
          </a:p>
          <a:p>
            <a:pPr marL="0" indent="0" algn="ctr">
              <a:buNone/>
            </a:pPr>
            <a:endParaRPr lang="en-US" sz="2400" dirty="0">
              <a:latin typeface="Bahnschrift Light" panose="020B0502040204020203" pitchFamily="34" charset="0"/>
            </a:endParaRPr>
          </a:p>
          <a:p>
            <a:endParaRPr lang="en-IN" dirty="0">
              <a:latin typeface="Bahnschrift 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51BF2-1A7B-A954-F67E-E3E04F347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9" y="2443589"/>
            <a:ext cx="5439725" cy="42470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8055BB9-DDBD-D27C-F573-D33D76A79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966" y="2361625"/>
            <a:ext cx="6538913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Bahnschrift Light" panose="020B0502040204020203" pitchFamily="34" charset="0"/>
              </a:rPr>
              <a:t>The Training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To ensure the model learns effectively, the following mathematical and algorithmic configurations are applied: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Activation Function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ReLU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Applied to hidden layers to introduce non-linearity, allowing the model to learn complex patterns</a:t>
            </a:r>
            <a:endParaRPr lang="en-US" altLang="en-US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(f(x) = max(0, 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Loss Function (Categorical Cross-Entropy):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Measures the "distance" between the model's prediction and the actual label. The goal of training is to minimize this value.</a:t>
            </a:r>
            <a:endParaRPr lang="en-US" altLang="en-US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Optimizer (Adam):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An advanced version of Gradient Descent that automatically adjusts the learning rate to help the model converge faster.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Evaluation Metrics: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While the model is trained on "Loss," we monitor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to understand the percentage of digits correctly identified.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007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DC5A-B346-6AFF-D941-64A64026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281"/>
            <a:ext cx="10515600" cy="761999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Bahnschrift Light" panose="020B0502040204020203" pitchFamily="34" charset="0"/>
              </a:rPr>
              <a:t>Model Implementation &amp; Training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0D67B2-1DFF-4675-23BE-165584F303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843280"/>
            <a:ext cx="8168640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Optimizer: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Adam Optimizer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(chosen for its efficiency in handling weight updates and adaptive learning rates).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Loss Function: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Categorical Cross-entropy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(used to measure the performance of the multi-class classification).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Metrics: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(the primary metric used to track the percentage of correct digit predictions).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Bahnschrift Light" panose="020B0502040204020203" pitchFamily="34" charset="0"/>
              </a:rPr>
              <a:t>Training Process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Data Splitting: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Dividing the MNIST dataset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training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validation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sets to ensure the model generalizes well.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Epochs: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Monitoring the gradual decrease in loss and increase in accuracy over multiple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Epochs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(training cycles).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Batch 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Updating model weights in small batches to maintain computational efficiency and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42ADB9-883E-75F9-8EFB-DA91BF540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880" y="1036319"/>
            <a:ext cx="3761851" cy="546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4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3B37-C1F6-728D-53DC-9D18B0CC7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398760" cy="81279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Bahnschrift Light" panose="020B0502040204020203" pitchFamily="34" charset="0"/>
              </a:rPr>
              <a:t>Results &amp;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20DD10-9267-EA71-7D9E-1F3D936C31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905314"/>
            <a:ext cx="12192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Model Accuracy: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The CNN model consistently achieves an accuracy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over 98%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on the test dataset, demonstrating its high reliability in recognizing handwritten digits.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Loss Reduction: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Categorical Cross-entropy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loss decreases significantly within the first few epochs, indicating a fast and stable convergence 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Validation vs. Training: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By comparing training and validation curves, the model shows no signs of significant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overfitting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thanks to the use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Dropout layers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Bahnschrift Light" panose="020B0502040204020203" pitchFamily="34" charset="0"/>
              </a:rPr>
              <a:t>Key Performance Indicators: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Precision &amp; Recall: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High scores across all 10 digit classes (0-9).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Confusion Matrix: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Used to identify specific digits that the model occasionally confuses (e.g., misidentifying a '4' as a '9' or a '5' as an '6').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Real-world Testing: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Successfully classifies unseen handwritten samples, proving the model's ability to generalize beyond the standard MNIST images.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82796-F41F-D15D-D743-5A17A8CA5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" y="1905635"/>
            <a:ext cx="6127433" cy="71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89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F008-6B8F-5324-CFB7-A01A84496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720" y="80645"/>
            <a:ext cx="10297160" cy="55943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Bahnschrift Light" panose="020B0502040204020203" pitchFamily="34" charset="0"/>
              </a:rPr>
              <a:t>Conclusion</a:t>
            </a:r>
            <a:r>
              <a:rPr lang="en-IN" dirty="0">
                <a:latin typeface="Bahnschrift Light" panose="020B0502040204020203" pitchFamily="34" charset="0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681F93-AFF5-2C32-2643-CB83338E36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" y="868423"/>
            <a:ext cx="1189228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Successful Implementation: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The project successfully demonstrates the power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Convolutional Neural Networks (CNNs)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in automating handwritten digit recognition with high precision.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Key Achievement: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By utilizing layers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Conv2D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and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MaxPooling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the model effectively extracts spatial features, achieving an accuracy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98%+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on the MNIST dataset.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Efficiency: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The choice of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Adam Optimizer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and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ReLU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activation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ensured fast convergence and computational efficiency, making the model suitable for real-time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949239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1242</Words>
  <Application>Microsoft Office PowerPoint</Application>
  <PresentationFormat>Widescreen</PresentationFormat>
  <Paragraphs>84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Bahnschrift Light</vt:lpstr>
      <vt:lpstr>Bahnschrift Light SemiCondensed</vt:lpstr>
      <vt:lpstr>Office Theme</vt:lpstr>
      <vt:lpstr>Handwritten Digit Recognition using CNN </vt:lpstr>
      <vt:lpstr>Abstract</vt:lpstr>
      <vt:lpstr>Introduction</vt:lpstr>
      <vt:lpstr>Technical Stack</vt:lpstr>
      <vt:lpstr>Dataset Overview (MNIST)</vt:lpstr>
      <vt:lpstr>Proposed Methodology (The CNN Architecture)</vt:lpstr>
      <vt:lpstr>Model Implementation &amp; Training</vt:lpstr>
      <vt:lpstr>Results &amp; Analysis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Raj Pandey</dc:creator>
  <cp:lastModifiedBy>Aditya Raj Pandey</cp:lastModifiedBy>
  <cp:revision>1</cp:revision>
  <dcterms:created xsi:type="dcterms:W3CDTF">2026-03-12T19:31:45Z</dcterms:created>
  <dcterms:modified xsi:type="dcterms:W3CDTF">2026-03-12T19:31:45Z</dcterms:modified>
</cp:coreProperties>
</file>